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72" r:id="rId5"/>
    <p:sldId id="276" r:id="rId6"/>
    <p:sldId id="275" r:id="rId7"/>
    <p:sldId id="274" r:id="rId8"/>
    <p:sldId id="277" r:id="rId9"/>
    <p:sldId id="278" r:id="rId10"/>
    <p:sldId id="280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minutes. The story: routers announce their own failures hours in advance, nobody reads it, and we built the thing that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minutes. The story: routers announce their own failures hours in advance, nobody reads it, and we built the thing that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minutes. The story: routers announce their own failures hours in advance, nobody reads it, and we built the thing that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gap: the information exists, it is just unread. That gap is the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 for the whole project. The two-way split is what makes it operational rather than academic.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the synthetic data here, once, early. It buys credibility for everything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2 only ever runs on what Stage 1 flagged. That is why fault type is blank for healthy routers.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precision: it is a deliberate recall-first operating point, and the threshold is a business decision the operator can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slide. The spikes line up with the real episodes and it was not constructed to — it is a replay.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often ask about interpretability. This is the answer, and it is exact rather than approximate.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the email is a work order, not a notification. It contains everything needed to 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 — if there is a live demo, this is where it goes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 the limitation before the panel finds it. Then show you know exactly what the next step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12 hours. That is the number the panel should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7" Type="http://schemas.openxmlformats.org/officeDocument/2006/relationships/notesSlide" Target="../notesSlides/notesSlide11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37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tags" Target="../tags/tag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48840"/>
            <a:ext cx="10058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02C3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Internship Summary: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14600"/>
            <a:ext cx="106070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657860" y="3429000"/>
            <a:ext cx="7315200" cy="15049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Realised By: Khalil Krifa</a:t>
            </a:r>
            <a:endParaRPr lang="en-US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Company: Huawei </a:t>
            </a:r>
            <a:endParaRPr lang="en-US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Mentor : Med Ali Abdelkader 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8841740" y="6144895"/>
            <a:ext cx="3350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chemeClr val="bg1"/>
                </a:solidFill>
              </a:rPr>
              <a:t>July2026-August2026</a:t>
            </a:r>
            <a:endParaRPr lang="en-US" altLang="en-GB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 txBox="1"/>
          <p:nvPr/>
        </p:nvSpPr>
        <p:spPr>
          <a:xfrm>
            <a:off x="640080" y="13716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40" dirty="0">
                <a:solidFill>
                  <a:srgbClr val="02C3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 ONE:</a:t>
            </a:r>
            <a:endParaRPr lang="en-US" sz="1200" dirty="0"/>
          </a:p>
        </p:txBody>
      </p:sp>
      <p:sp>
        <p:nvSpPr>
          <p:cNvPr id="7" name="Text 1"/>
          <p:cNvSpPr txBox="1"/>
          <p:nvPr/>
        </p:nvSpPr>
        <p:spPr>
          <a:xfrm>
            <a:off x="640080" y="1783080"/>
            <a:ext cx="1078992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Before the project:</a:t>
            </a:r>
            <a:endParaRPr lang="en-US" sz="38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learning the network</a:t>
            </a:r>
            <a:endParaRPr lang="en-US" sz="3800" dirty="0"/>
          </a:p>
        </p:txBody>
      </p:sp>
      <p:sp>
        <p:nvSpPr>
          <p:cNvPr id="8" name="Text 2"/>
          <p:cNvSpPr txBox="1"/>
          <p:nvPr/>
        </p:nvSpPr>
        <p:spPr>
          <a:xfrm>
            <a:off x="640080" y="3429000"/>
            <a:ext cx="8686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6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Six weeks of study before a line of code — because you cannot predict a network failure without first understanding the network.</a:t>
            </a:r>
            <a:endParaRPr lang="en-US" sz="1600" dirty="0"/>
          </a:p>
        </p:txBody>
      </p:sp>
      <p:sp>
        <p:nvSpPr>
          <p:cNvPr id="9" name="Shape 3"/>
          <p:cNvSpPr/>
          <p:nvPr/>
        </p:nvSpPr>
        <p:spPr>
          <a:xfrm>
            <a:off x="640080" y="4434840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13303C"/>
          </a:solidFill>
          <a:ln w="12700">
            <a:solidFill>
              <a:srgbClr val="13303C"/>
            </a:solidFill>
            <a:prstDash val="solid"/>
          </a:ln>
        </p:spPr>
      </p:sp>
      <p:sp>
        <p:nvSpPr>
          <p:cNvPr id="10" name="Text 4"/>
          <p:cNvSpPr txBox="1"/>
          <p:nvPr/>
        </p:nvSpPr>
        <p:spPr>
          <a:xfrm>
            <a:off x="804672" y="461772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Mobile networks</a:t>
            </a:r>
            <a:endParaRPr lang="en-US" sz="1350" dirty="0"/>
          </a:p>
        </p:txBody>
      </p:sp>
      <p:sp>
        <p:nvSpPr>
          <p:cNvPr id="11" name="Text 5"/>
          <p:cNvSpPr txBox="1"/>
          <p:nvPr/>
        </p:nvSpPr>
        <p:spPr>
          <a:xfrm>
            <a:off x="804672" y="513892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2G → 5G</a:t>
            </a:r>
            <a:endParaRPr lang="en-US" sz="1200" dirty="0"/>
          </a:p>
        </p:txBody>
      </p:sp>
      <p:sp>
        <p:nvSpPr>
          <p:cNvPr id="12" name="Shape 6"/>
          <p:cNvSpPr/>
          <p:nvPr/>
        </p:nvSpPr>
        <p:spPr>
          <a:xfrm>
            <a:off x="2871216" y="4434840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13303C"/>
          </a:solidFill>
          <a:ln w="12700">
            <a:solidFill>
              <a:srgbClr val="13303C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3035808" y="461772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Routing protocols</a:t>
            </a:r>
            <a:endParaRPr lang="en-US" sz="1350" dirty="0"/>
          </a:p>
        </p:txBody>
      </p:sp>
      <p:sp>
        <p:nvSpPr>
          <p:cNvPr id="14" name="Text 8"/>
          <p:cNvSpPr txBox="1"/>
          <p:nvPr/>
        </p:nvSpPr>
        <p:spPr>
          <a:xfrm>
            <a:off x="3035808" y="513892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IGP, BGP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5102352" y="4434840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13303C"/>
          </a:solidFill>
          <a:ln w="12700">
            <a:solidFill>
              <a:srgbClr val="13303C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5266944" y="461772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MPLS &amp; VPNs</a:t>
            </a:r>
            <a:endParaRPr lang="en-US" sz="1350" dirty="0"/>
          </a:p>
        </p:txBody>
      </p:sp>
      <p:sp>
        <p:nvSpPr>
          <p:cNvPr id="17" name="Text 11"/>
          <p:cNvSpPr txBox="1"/>
          <p:nvPr/>
        </p:nvSpPr>
        <p:spPr>
          <a:xfrm>
            <a:off x="5266944" y="513892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labels, VRF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7333488" y="4434840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13303C"/>
          </a:solidFill>
          <a:ln w="12700">
            <a:solidFill>
              <a:srgbClr val="13303C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7498080" y="461772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centres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7498080" y="513892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spine-leaf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9564624" y="4434840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13303C"/>
          </a:solidFill>
          <a:ln w="12700">
            <a:solidFill>
              <a:srgbClr val="13303C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9729216" y="461772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Huawei VRP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9729216" y="5138928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hands-on CLI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40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MOBILE NETWORKS: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Four generations, one direction of travel</a:t>
            </a:r>
            <a:endParaRPr lang="en-US" sz="3200" dirty="0"/>
          </a:p>
        </p:txBody>
      </p:sp>
      <p:pic>
        <p:nvPicPr>
          <p:cNvPr id="4" name="Image 0" descr="/sessions/peaceful-wonderful-newton/mnt/outputs/figs/slide/evolu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7360"/>
            <a:ext cx="10789920" cy="3063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493776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Voice stops being special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257800"/>
            <a:ext cx="3520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2G reserved a dedicated circuit per call. By 4G voice is just data over IMS.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361688" y="493776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Radio intelligence keeps moving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361688" y="5257800"/>
            <a:ext cx="3520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Centralised in the BSC/RNC, flattened into the eNodeB, then split again into CU/DU/RU.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83296" y="493776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 and user planes separate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083296" y="5257800"/>
            <a:ext cx="3520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5G the user-plane function can sit at the edge, close to the subscriber.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40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ROUTING PROTOCOLS: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routers agree on where to send a packet</a:t>
            </a:r>
            <a:endParaRPr lang="en-US" sz="3200" dirty="0"/>
          </a:p>
        </p:txBody>
      </p:sp>
      <p:pic>
        <p:nvPicPr>
          <p:cNvPr id="4" name="Image 0" descr="/sessions/peaceful-wonderful-newton/mnt/outputs/figs/slide/rout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10789920" cy="3154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02920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60120" y="51663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an operator actually runs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546811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IS-IS or OSPF inside the network for reachability, BGP at the edges for policy, and MPLS or Segment Routing underneath to steer traffic along chosen paths.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40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MPLS, SEGMENT ROUTING &amp; VPNs: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Carrying many customers over one network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Classic routing reads the destination IP at every hop. MPLS attaches a label once, and every router afterwards just follows the label — faster, and the path can be chosen in advance. Segment Routing goes further and writes the whole route into the packet, removing the need for a separate label-distribution protocol.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926080"/>
            <a:ext cx="502920" cy="50292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7" name="Text 5"/>
          <p:cNvSpPr txBox="1"/>
          <p:nvPr/>
        </p:nvSpPr>
        <p:spPr>
          <a:xfrm>
            <a:off x="914400" y="2926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VRF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611880"/>
            <a:ext cx="28803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virtual router inside a physical one. Two customers can both use 192.168.1.0/24 without ever seeing each other.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1688" y="269748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2926080"/>
            <a:ext cx="502920" cy="50292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1" name="Text 9"/>
          <p:cNvSpPr txBox="1"/>
          <p:nvPr/>
        </p:nvSpPr>
        <p:spPr>
          <a:xfrm>
            <a:off x="4636008" y="2926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3611880"/>
            <a:ext cx="28803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tag that makes each customer's overlapping address unique while it crosses the operator's core.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83296" y="2697480"/>
            <a:ext cx="3429000" cy="2194560"/>
          </a:xfrm>
          <a:prstGeom prst="roundRect">
            <a:avLst>
              <a:gd name="adj" fmla="val 4167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57616" y="2926080"/>
            <a:ext cx="502920" cy="502920"/>
          </a:xfrm>
          <a:prstGeom prst="ellipse">
            <a:avLst/>
          </a:prstGeom>
          <a:solidFill>
            <a:srgbClr val="6D28D9"/>
          </a:solidFill>
        </p:spPr>
      </p:sp>
      <p:sp>
        <p:nvSpPr>
          <p:cNvPr id="15" name="Text 13"/>
          <p:cNvSpPr txBox="1"/>
          <p:nvPr/>
        </p:nvSpPr>
        <p:spPr>
          <a:xfrm>
            <a:off x="8357616" y="2926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357616" y="3611880"/>
            <a:ext cx="288036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shipping label. It tells the receiving router which customer's table the route belongs in.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16636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Together these are MPLS L3VPN — how one physical network carries hundreds of separate corporate networks that never see each other.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40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CENTRE ARCHITECTURE: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 question: how do you connect 100 racks?</a:t>
            </a:r>
            <a:endParaRPr lang="en-US" sz="3200" dirty="0"/>
          </a:p>
        </p:txBody>
      </p:sp>
      <p:pic>
        <p:nvPicPr>
          <p:cNvPr id="4" name="Image 0" descr="/sessions/peaceful-wonderful-newton/mnt/outputs/figs/slide/spinelea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685800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55280" y="169164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83880" y="192024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Spine and leaf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219456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cannot cable every switch to every other — 100 switches would need ~5,000 links. A middle layer solves it in two hops.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90779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VXLAN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183880" y="3182112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Wraps an Ethernet frame inside an IP packet, so a VM can move between racks and keep its address.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183880" y="389534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BGP EVPN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4169664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Instead of flooding to find where a machine lives, every leaf announces what is behind it in advance.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512064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matters for the project: an operator's 4G and 5G core is no longer dedicated hardware — it is software running on servers in exactly this kind of fabric.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40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HANDS-ON: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theory to the command 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20624" cy="420624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64592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Huawei VRP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2075688"/>
            <a:ext cx="54864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operating system on Huawei routers and switches. Learned the view hierarchy — user, system, interface, protocol — and the habits that differ from Cisco: display instead of show, undo instead of no.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420624" cy="420624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9" name="Text 7"/>
          <p:cNvSpPr txBox="1"/>
          <p:nvPr/>
        </p:nvSpPr>
        <p:spPr>
          <a:xfrm>
            <a:off x="640080" y="338328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33375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Configuration practice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3767328"/>
            <a:ext cx="54864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Device setup, AAA and remote access, interface addressing, VLANs, and OSPF, built and tested in eNSP against the HCIA-Datacom syllabus.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1691640"/>
            <a:ext cx="4572000" cy="3383280"/>
          </a:xfrm>
          <a:prstGeom prst="roundRect">
            <a:avLst>
              <a:gd name="adj" fmla="val 2703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23760" y="192024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Where it led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2286000"/>
            <a:ext cx="402336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Studying Huawei's own documentation is what made the project possible. The alarm reference that the model is built on — every alarm's meaning, its probable causes and its repair procedure — is the same vendor documentation used to learn the platform.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416052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1,973 alarm definitions came from there.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Also studied: HVPN — Huawei's hierarchical L3VPN, where access, aggregation and core routers each carry only the routes they need.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48840"/>
            <a:ext cx="10058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Part Two :</a:t>
            </a:r>
            <a:endParaRPr lang="en-US" sz="1300" b="1" kern="0" spc="300" dirty="0">
              <a:solidFill>
                <a:srgbClr val="02C39A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14600"/>
            <a:ext cx="106070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: </a:t>
            </a:r>
            <a:endParaRPr lang="en-US" sz="32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RouterGuardian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77640"/>
            <a:ext cx="9601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800" dirty="0">
                <a:solidFill>
                  <a:srgbClr val="9FB6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Predicting router failures from Huawei alarm logs  and turning each prediction into an action.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40" dirty="0">
                <a:solidFill>
                  <a:srgbClr val="02C3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PROBLEM: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78992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router tells you it is failing.</a:t>
            </a:r>
            <a:endParaRPr lang="en-US" sz="40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But Nobody is reading.</a:t>
            </a:r>
            <a:endParaRPr lang="en-US" sz="40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640080" y="3063240"/>
            <a:ext cx="420624" cy="420624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5" name="Text 3"/>
          <p:cNvSpPr txBox="1"/>
          <p:nvPr>
            <p:custDataLst>
              <p:tags r:id="rId2"/>
            </p:custDataLst>
          </p:nvPr>
        </p:nvSpPr>
        <p:spPr>
          <a:xfrm>
            <a:off x="640080" y="306324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>
            <p:custDataLst>
              <p:tags r:id="rId3"/>
            </p:custDataLst>
          </p:nvPr>
        </p:nvSpPr>
        <p:spPr>
          <a:xfrm>
            <a:off x="1325880" y="30175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Thousands of alarms a day</a:t>
            </a:r>
            <a:endParaRPr lang="en-US" sz="1700" dirty="0"/>
          </a:p>
        </p:txBody>
      </p:sp>
      <p:sp>
        <p:nvSpPr>
          <p:cNvPr id="7" name="Text 5"/>
          <p:cNvSpPr txBox="1"/>
          <p:nvPr>
            <p:custDataLst>
              <p:tags r:id="rId4"/>
            </p:custDataLst>
          </p:nvPr>
        </p:nvSpPr>
        <p:spPr>
          <a:xfrm>
            <a:off x="1325880" y="3355848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B6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medium network floods the operations centre. Almost all of it is noise.</a:t>
            </a:r>
            <a:endParaRPr lang="en-US" sz="1350" dirty="0"/>
          </a:p>
        </p:txBody>
      </p:sp>
      <p:sp>
        <p:nvSpPr>
          <p:cNvPr id="8" name="Shape 6"/>
          <p:cNvSpPr/>
          <p:nvPr>
            <p:custDataLst>
              <p:tags r:id="rId5"/>
            </p:custDataLst>
          </p:nvPr>
        </p:nvSpPr>
        <p:spPr>
          <a:xfrm>
            <a:off x="640080" y="4114800"/>
            <a:ext cx="420624" cy="420624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9" name="Text 7"/>
          <p:cNvSpPr txBox="1"/>
          <p:nvPr>
            <p:custDataLst>
              <p:tags r:id="rId6"/>
            </p:custDataLst>
          </p:nvPr>
        </p:nvSpPr>
        <p:spPr>
          <a:xfrm>
            <a:off x="640080" y="41148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>
            <p:custDataLst>
              <p:tags r:id="rId7"/>
            </p:custDataLst>
          </p:nvPr>
        </p:nvSpPr>
        <p:spPr>
          <a:xfrm>
            <a:off x="1325880" y="406908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Failures announce themselves</a:t>
            </a:r>
            <a:endParaRPr lang="en-US" sz="1700" dirty="0"/>
          </a:p>
        </p:txBody>
      </p:sp>
      <p:sp>
        <p:nvSpPr>
          <p:cNvPr id="11" name="Text 9"/>
          <p:cNvSpPr txBox="1"/>
          <p:nvPr>
            <p:custDataLst>
              <p:tags r:id="rId8"/>
            </p:custDataLst>
          </p:nvPr>
        </p:nvSpPr>
        <p:spPr>
          <a:xfrm>
            <a:off x="1325880" y="4407408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B6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Degrading hardware raises alarms with rising frequency for hours beforehand.</a:t>
            </a:r>
            <a:endParaRPr lang="en-US" sz="1350" dirty="0"/>
          </a:p>
        </p:txBody>
      </p:sp>
      <p:sp>
        <p:nvSpPr>
          <p:cNvPr id="12" name="Shape 10"/>
          <p:cNvSpPr/>
          <p:nvPr>
            <p:custDataLst>
              <p:tags r:id="rId9"/>
            </p:custDataLst>
          </p:nvPr>
        </p:nvSpPr>
        <p:spPr>
          <a:xfrm>
            <a:off x="640080" y="5166360"/>
            <a:ext cx="420624" cy="420624"/>
          </a:xfrm>
          <a:prstGeom prst="ellipse">
            <a:avLst/>
          </a:prstGeom>
          <a:solidFill>
            <a:srgbClr val="02C39A"/>
          </a:solidFill>
        </p:spPr>
      </p:sp>
      <p:sp>
        <p:nvSpPr>
          <p:cNvPr id="13" name="Text 11"/>
          <p:cNvSpPr txBox="1"/>
          <p:nvPr>
            <p:custDataLst>
              <p:tags r:id="rId10"/>
            </p:custDataLst>
          </p:nvPr>
        </p:nvSpPr>
        <p:spPr>
          <a:xfrm>
            <a:off x="640080" y="516636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>
            <p:custDataLst>
              <p:tags r:id="rId11"/>
            </p:custDataLst>
          </p:nvPr>
        </p:nvSpPr>
        <p:spPr>
          <a:xfrm>
            <a:off x="1325880" y="51206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team reacts after the fact</a:t>
            </a:r>
            <a:endParaRPr lang="en-US" sz="1700" dirty="0"/>
          </a:p>
        </p:txBody>
      </p:sp>
      <p:sp>
        <p:nvSpPr>
          <p:cNvPr id="15" name="Text 13"/>
          <p:cNvSpPr txBox="1"/>
          <p:nvPr>
            <p:custDataLst>
              <p:tags r:id="rId12"/>
            </p:custDataLst>
          </p:nvPr>
        </p:nvSpPr>
        <p:spPr>
          <a:xfrm>
            <a:off x="1325880" y="5458968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B6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the time a Critical alarm fires, service is already gone.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589520" y="288036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13303C"/>
          </a:solidFill>
          <a:ln w="12700">
            <a:solidFill>
              <a:srgbClr val="1330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0" y="310896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2C3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cost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3474720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a router fails, everything downstream of it loses service.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863840" y="4663440"/>
            <a:ext cx="33832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9FB6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core router can carry 40+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9FB6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devices beneath it.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40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WE BUILT: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Read the last 24 hours. Predict the next 12. Act on it.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RouterGuardian scores every router in the network, and every prediction is routed to the action that actually fixes it.</a:t>
            </a:r>
            <a:endParaRPr lang="en-US" sz="16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640080" y="2286000"/>
            <a:ext cx="5120640" cy="2606040"/>
          </a:xfrm>
          <a:prstGeom prst="roundRect">
            <a:avLst>
              <a:gd name="adj" fmla="val 3509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1005840" y="2606040"/>
            <a:ext cx="457200" cy="457200"/>
          </a:xfrm>
          <a:prstGeom prst="ellipse">
            <a:avLst/>
          </a:prstGeom>
          <a:solidFill>
            <a:srgbClr val="BE123C"/>
          </a:solidFill>
        </p:spPr>
      </p:sp>
      <p:sp>
        <p:nvSpPr>
          <p:cNvPr id="7" name="Text 5"/>
          <p:cNvSpPr txBox="1"/>
          <p:nvPr>
            <p:custDataLst>
              <p:tags r:id="rId3"/>
            </p:custDataLst>
          </p:nvPr>
        </p:nvSpPr>
        <p:spPr>
          <a:xfrm>
            <a:off x="1600200" y="2633472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BE12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HARDWARE FAULT</a:t>
            </a:r>
            <a:endParaRPr lang="en-US" sz="1200" dirty="0"/>
          </a:p>
        </p:txBody>
      </p:sp>
      <p:sp>
        <p:nvSpPr>
          <p:cNvPr id="8" name="Text 6"/>
          <p:cNvSpPr txBox="1"/>
          <p:nvPr>
            <p:custDataLst>
              <p:tags r:id="rId4"/>
            </p:custDataLst>
          </p:nvPr>
        </p:nvSpPr>
        <p:spPr>
          <a:xfrm>
            <a:off x="1005840" y="320040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Alert the on-call team</a:t>
            </a:r>
            <a:endParaRPr lang="en-US" sz="2100" dirty="0"/>
          </a:p>
        </p:txBody>
      </p:sp>
      <p:sp>
        <p:nvSpPr>
          <p:cNvPr id="9" name="Text 7"/>
          <p:cNvSpPr txBox="1"/>
          <p:nvPr>
            <p:custDataLst>
              <p:tags r:id="rId5"/>
            </p:custDataLst>
          </p:nvPr>
        </p:nvSpPr>
        <p:spPr>
          <a:xfrm>
            <a:off x="1005840" y="3657600"/>
            <a:ext cx="448056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board, an optic, a fan. No script can fix it, a human is paged, with the alarms, the reasons and the vendor's repair procedure.</a:t>
            </a:r>
            <a:endParaRPr lang="en-US" sz="1350" dirty="0"/>
          </a:p>
        </p:txBody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6217920" y="2286000"/>
            <a:ext cx="5120640" cy="2606040"/>
          </a:xfrm>
          <a:prstGeom prst="roundRect">
            <a:avLst>
              <a:gd name="adj" fmla="val 3509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6583680" y="2606040"/>
            <a:ext cx="457200" cy="457200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2" name="Text 10"/>
          <p:cNvSpPr txBox="1"/>
          <p:nvPr>
            <p:custDataLst>
              <p:tags r:id="rId8"/>
            </p:custDataLst>
          </p:nvPr>
        </p:nvSpPr>
        <p:spPr>
          <a:xfrm>
            <a:off x="7178040" y="2633472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 dirty="0">
                <a:solidFill>
                  <a:srgbClr val="00A89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SOFTWARE FAULT</a:t>
            </a:r>
            <a:endParaRPr lang="en-US" sz="1200" dirty="0"/>
          </a:p>
        </p:txBody>
      </p:sp>
      <p:sp>
        <p:nvSpPr>
          <p:cNvPr id="13" name="Text 11"/>
          <p:cNvSpPr txBox="1"/>
          <p:nvPr>
            <p:custDataLst>
              <p:tags r:id="rId9"/>
            </p:custDataLst>
          </p:nvPr>
        </p:nvSpPr>
        <p:spPr>
          <a:xfrm>
            <a:off x="6583680" y="320040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Attempt scripted remediation</a:t>
            </a:r>
            <a:endParaRPr lang="en-US" sz="2100" dirty="0"/>
          </a:p>
        </p:txBody>
      </p:sp>
      <p:sp>
        <p:nvSpPr>
          <p:cNvPr id="14" name="Text 12"/>
          <p:cNvSpPr txBox="1"/>
          <p:nvPr>
            <p:custDataLst>
              <p:tags r:id="rId10"/>
            </p:custDataLst>
          </p:nvPr>
        </p:nvSpPr>
        <p:spPr>
          <a:xfrm>
            <a:off x="6583680" y="3657600"/>
            <a:ext cx="448056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stuck process, a dropped session. The system tries the fix automatically and tells the team it is doing so.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split matters: it is the difference between waking someone at 3am and not having to.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40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DATA: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Real vendor documentation, a simulated network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2560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2809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1,973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Huawei alarm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definitions extracted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463040"/>
            <a:ext cx="2560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A89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48,627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24028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alarm events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463040"/>
            <a:ext cx="2560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6D28D9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120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24028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devices over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182 days</a:t>
            </a:r>
            <a:endParaRPr lang="en-US" sz="1300" dirty="0"/>
          </a:p>
        </p:txBody>
      </p:sp>
      <p:pic>
        <p:nvPicPr>
          <p:cNvPr id="10" name="Image 0" descr="/sessions/peaceful-wonderful-newton/mnt/outputs/figs/slide/wind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880360"/>
            <a:ext cx="9692640" cy="192024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40080" y="512064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operator log was available, so the event stream is synthetic : built from real alarm names, severities and repair procedures. </a:t>
            </a:r>
            <a:endParaRPr lang="en-US" sz="1400" dirty="0">
              <a:solidFill>
                <a:srgbClr val="5A6B7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result in this deck is measured on that data, and we are explicit about what it proves.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40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MODEL: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Two questions, asked in order</a:t>
            </a:r>
            <a:endParaRPr lang="en-US" sz="3200" dirty="0"/>
          </a:p>
        </p:txBody>
      </p:sp>
      <p:pic>
        <p:nvPicPr>
          <p:cNvPr id="4" name="Image 0" descr="/sessions/peaceful-wonderful-newton/mnt/outputs/figs/slide/twost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600200"/>
            <a:ext cx="731520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052560" y="173736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281160" y="192024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two stages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281160" y="2331720"/>
            <a:ext cx="2148840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Fault windows are rare : one model would drown the signal.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stage gets its own operating point.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matches how the team actually decides.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07492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 features per window: alarm volume, type mix, severity, how fast activity is accelerating, and the router's own fault history.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40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RESULTS: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Four out of five failures caught before they happen</a:t>
            </a:r>
            <a:endParaRPr lang="en-US" sz="3200" dirty="0"/>
          </a:p>
        </p:txBody>
      </p:sp>
      <p:pic>
        <p:nvPicPr>
          <p:cNvPr id="4" name="Image 0" descr="/sessions/peaceful-wonderful-newton/mnt/outputs/figs/slide/metric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0200"/>
            <a:ext cx="6949440" cy="2926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38160" y="1645920"/>
            <a:ext cx="3383280" cy="2834640"/>
          </a:xfrm>
          <a:prstGeom prst="roundRect">
            <a:avLst>
              <a:gd name="adj" fmla="val 3226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66760" y="182880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 the deployed threshold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214884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A89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80%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8366760" y="27432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real failures are predicted before they occur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329184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trade we chose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361188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About half of the alerts are false. Missing an outage costs more than an engineer checking a healthy router.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Measured on a time-separated held-out split : the model is tested only on windows from later than anything it trained on.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40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DOES IT ACTUALLY WORK: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risk curve rises into the real failures</a:t>
            </a:r>
            <a:endParaRPr lang="en-US" sz="3200" dirty="0"/>
          </a:p>
        </p:txBody>
      </p:sp>
      <p:pic>
        <p:nvPicPr>
          <p:cNvPr id="4" name="Image 0" descr="/sessions/peaceful-wonderful-newton/mnt/outputs/figs/slide/time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10607040" cy="3474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25780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router, four months. The model is re-scored at each point using only the alarms it had at that moment. Pale vertical lines are failures that really happened; the ringed peaks are where an alert would have fired.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40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EXPLAINABILITY: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Every score comes with its reasons</a:t>
            </a:r>
            <a:endParaRPr lang="en-US" sz="3200" dirty="0"/>
          </a:p>
        </p:txBody>
      </p:sp>
      <p:pic>
        <p:nvPicPr>
          <p:cNvPr id="4" name="Image 0" descr="/sessions/peaceful-wonderful-newton/mnt/outputs/figs/slide/drive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6766560" cy="3017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55280" y="1737360"/>
            <a:ext cx="3566160" cy="2926080"/>
          </a:xfrm>
          <a:prstGeom prst="roundRect">
            <a:avLst>
              <a:gd name="adj" fmla="val 3125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83880" y="193852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20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Not a black box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233172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prediction carries exact TreeSHAP contributions : how far every feature moved this router away from the fleet average.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3520440"/>
            <a:ext cx="31089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engineer can see why this router and not its neighbour  which is what makes the alert actionable at 3am.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40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FROM PREDICTION TO ACTION: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prediction leaves the screen</a:t>
            </a:r>
            <a:endParaRPr lang="en-US" sz="32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640080" y="178308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932688" y="2057400"/>
            <a:ext cx="420624" cy="420624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6" name="Text 4"/>
          <p:cNvSpPr txBox="1"/>
          <p:nvPr>
            <p:custDataLst>
              <p:tags r:id="rId3"/>
            </p:custDataLst>
          </p:nvPr>
        </p:nvSpPr>
        <p:spPr>
          <a:xfrm>
            <a:off x="932688" y="20574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>
            <p:custDataLst>
              <p:tags r:id="rId4"/>
            </p:custDataLst>
          </p:nvPr>
        </p:nvSpPr>
        <p:spPr>
          <a:xfrm>
            <a:off x="932688" y="2651760"/>
            <a:ext cx="2834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Automatic alert</a:t>
            </a:r>
            <a:endParaRPr lang="en-US" sz="1800" dirty="0"/>
          </a:p>
        </p:txBody>
      </p:sp>
      <p:sp>
        <p:nvSpPr>
          <p:cNvPr id="8" name="Text 6"/>
          <p:cNvSpPr txBox="1"/>
          <p:nvPr>
            <p:custDataLst>
              <p:tags r:id="rId5"/>
            </p:custDataLst>
          </p:nvPr>
        </p:nvSpPr>
        <p:spPr>
          <a:xfrm>
            <a:off x="932688" y="3337560"/>
            <a:ext cx="288036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on-call team is emailed the moment a hardware fault is predicted , with the alarms behind it, the model's reasons, the blast radius, and Huawei's documented repair procedure.</a:t>
            </a:r>
            <a:endParaRPr lang="en-US" sz="1250" dirty="0"/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4361688" y="178308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4654296" y="2057400"/>
            <a:ext cx="420624" cy="420624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1" name="Text 9"/>
          <p:cNvSpPr txBox="1"/>
          <p:nvPr>
            <p:custDataLst>
              <p:tags r:id="rId8"/>
            </p:custDataLst>
          </p:nvPr>
        </p:nvSpPr>
        <p:spPr>
          <a:xfrm>
            <a:off x="4654296" y="20574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>
            <p:custDataLst>
              <p:tags r:id="rId9"/>
            </p:custDataLst>
          </p:nvPr>
        </p:nvSpPr>
        <p:spPr>
          <a:xfrm>
            <a:off x="4654296" y="2651760"/>
            <a:ext cx="2834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Troubleshooting assistant</a:t>
            </a:r>
            <a:endParaRPr lang="en-US" sz="1800" dirty="0"/>
          </a:p>
        </p:txBody>
      </p:sp>
      <p:sp>
        <p:nvSpPr>
          <p:cNvPr id="13" name="Text 11"/>
          <p:cNvSpPr txBox="1"/>
          <p:nvPr>
            <p:custDataLst>
              <p:tags r:id="rId10"/>
            </p:custDataLst>
          </p:nvPr>
        </p:nvSpPr>
        <p:spPr>
          <a:xfrm>
            <a:off x="4654296" y="3337560"/>
            <a:ext cx="288036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link in the email opens a conversation grounded in that incident. It answers what to do first, how urgent it is and why the router was flagged — from the stored facts, never invented.</a:t>
            </a:r>
            <a:endParaRPr lang="en-US" sz="1250" dirty="0"/>
          </a:p>
        </p:txBody>
      </p:sp>
      <p:sp>
        <p:nvSpPr>
          <p:cNvPr id="14" name="Shape 12"/>
          <p:cNvSpPr/>
          <p:nvPr>
            <p:custDataLst>
              <p:tags r:id="rId11"/>
            </p:custDataLst>
          </p:nvPr>
        </p:nvSpPr>
        <p:spPr>
          <a:xfrm>
            <a:off x="8083296" y="1783080"/>
            <a:ext cx="3429000" cy="3246120"/>
          </a:xfrm>
          <a:prstGeom prst="roundRect">
            <a:avLst>
              <a:gd name="adj" fmla="val 2817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15" name="Shape 13"/>
          <p:cNvSpPr/>
          <p:nvPr>
            <p:custDataLst>
              <p:tags r:id="rId12"/>
            </p:custDataLst>
          </p:nvPr>
        </p:nvSpPr>
        <p:spPr>
          <a:xfrm>
            <a:off x="8375904" y="2057400"/>
            <a:ext cx="420624" cy="420624"/>
          </a:xfrm>
          <a:prstGeom prst="ellipse">
            <a:avLst/>
          </a:prstGeom>
          <a:solidFill>
            <a:srgbClr val="6D28D9"/>
          </a:solidFill>
        </p:spPr>
      </p:sp>
      <p:sp>
        <p:nvSpPr>
          <p:cNvPr id="16" name="Text 14"/>
          <p:cNvSpPr txBox="1"/>
          <p:nvPr>
            <p:custDataLst>
              <p:tags r:id="rId13"/>
            </p:custDataLst>
          </p:nvPr>
        </p:nvSpPr>
        <p:spPr>
          <a:xfrm>
            <a:off x="8375904" y="205740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>
            <p:custDataLst>
              <p:tags r:id="rId14"/>
            </p:custDataLst>
          </p:nvPr>
        </p:nvSpPr>
        <p:spPr>
          <a:xfrm>
            <a:off x="8375904" y="2651760"/>
            <a:ext cx="28346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Root-cause comparison</a:t>
            </a:r>
            <a:endParaRPr lang="en-US" sz="1800" dirty="0"/>
          </a:p>
        </p:txBody>
      </p:sp>
      <p:sp>
        <p:nvSpPr>
          <p:cNvPr id="18" name="Text 16"/>
          <p:cNvSpPr txBox="1"/>
          <p:nvPr>
            <p:custDataLst>
              <p:tags r:id="rId15"/>
            </p:custDataLst>
          </p:nvPr>
        </p:nvSpPr>
        <p:spPr>
          <a:xfrm>
            <a:off x="8375904" y="3337560"/>
            <a:ext cx="288036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routers side by side: location, physical environment, hardware age and topology. It says which of them plausibly explains the risk gap, and which is ruled out.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prediction nobody sees is worth nothing. This is the half that makes it a system rather than a model.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40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APPLICATION: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8970" y="39243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Built to be used, not demonstrated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828800"/>
            <a:ext cx="9601200" cy="3017520"/>
          </a:xfrm>
          <a:prstGeom prst="rect">
            <a:avLst/>
          </a:prstGeom>
          <a:solidFill>
            <a:srgbClr val="F4F8F9"/>
          </a:solidFill>
          <a:ln>
            <a:solidFill>
              <a:srgbClr val="CFDDE2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AAA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paste a screenshot of the Fleet or Overview tab here ]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8970" y="5632831"/>
            <a:ext cx="118872" cy="118872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6" name="Text 4"/>
          <p:cNvSpPr txBox="1"/>
          <p:nvPr/>
        </p:nvSpPr>
        <p:spPr>
          <a:xfrm>
            <a:off x="914400" y="552323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topology, coloured by predicted risk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5650611"/>
            <a:ext cx="118872" cy="118872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8" name="Text 6"/>
          <p:cNvSpPr txBox="1"/>
          <p:nvPr/>
        </p:nvSpPr>
        <p:spPr>
          <a:xfrm>
            <a:off x="6492240" y="553212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router ranked, with blast radius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8970" y="5964301"/>
            <a:ext cx="118872" cy="118872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0" name="Text 8"/>
          <p:cNvSpPr txBox="1"/>
          <p:nvPr/>
        </p:nvSpPr>
        <p:spPr>
          <a:xfrm>
            <a:off x="914400" y="585216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replay per router over months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17920" y="5964936"/>
            <a:ext cx="118872" cy="118872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2" name="Text 10"/>
          <p:cNvSpPr txBox="1"/>
          <p:nvPr/>
        </p:nvSpPr>
        <p:spPr>
          <a:xfrm>
            <a:off x="6492240" y="5852160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 outbox and CSV export</a:t>
            </a:r>
            <a:endParaRPr lang="en-US" sz="135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38860"/>
            <a:ext cx="10360660" cy="44329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40" dirty="0">
                <a:solidFill>
                  <a:srgbClr val="02809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HONEST LIMITS: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real data would change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84048" cy="384048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5" name="Text 3"/>
          <p:cNvSpPr txBox="1"/>
          <p:nvPr/>
        </p:nvSpPr>
        <p:spPr>
          <a:xfrm>
            <a:off x="1298448" y="17830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Results would become evidence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2167128"/>
            <a:ext cx="102412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Today the model is tested on data built alongside it. Real logs turn a coherent method into an empirical result.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384048" cy="384048"/>
          </a:xfrm>
          <a:prstGeom prst="ellipse">
            <a:avLst/>
          </a:prstGeom>
          <a:solidFill>
            <a:srgbClr val="6D28D9"/>
          </a:solidFill>
        </p:spPr>
      </p:sp>
      <p:sp>
        <p:nvSpPr>
          <p:cNvPr id="8" name="Text 6"/>
          <p:cNvSpPr txBox="1"/>
          <p:nvPr/>
        </p:nvSpPr>
        <p:spPr>
          <a:xfrm>
            <a:off x="1298448" y="29260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Scores would drop, and that is fine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3310128"/>
            <a:ext cx="102412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precursors are noisier. A model catching half of the failures still beats discovering all of them afterwards.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384048" cy="384048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1" name="Text 9"/>
          <p:cNvSpPr txBox="1"/>
          <p:nvPr/>
        </p:nvSpPr>
        <p:spPr>
          <a:xfrm>
            <a:off x="1298448" y="40690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2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Impact would become real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98448" y="4453128"/>
            <a:ext cx="102412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5A6B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topology is synthesised. With a real inventory, ranking by risk times customers affected is what an operations centre actually wants.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534924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EEF5F6"/>
          </a:solidFill>
          <a:ln w="12700">
            <a:solidFill>
              <a:srgbClr val="EEF5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5440680"/>
            <a:ext cx="102412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method and the system are real. Only the evidence is synthetic  and swapping in real logs exercises the same pipeline end to end.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40" dirty="0">
                <a:solidFill>
                  <a:srgbClr val="02C3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 SUMMARY: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78992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an unread alarm stream</a:t>
            </a:r>
            <a:endParaRPr lang="en-US" sz="38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 an actionable prediction.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1,973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9476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B6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Huawei alarm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B6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definitions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3063240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0.940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379476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B6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ROC-AUC,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B6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 recall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3063240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12h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379476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B6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warning before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B6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failure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869680" y="3063240"/>
            <a:ext cx="25603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869680" y="379476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B6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remediation paths,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9FB6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257800"/>
            <a:ext cx="10058400" cy="6165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 </a:t>
            </a:r>
            <a:endParaRPr lang="en-US" sz="20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Your questions are  welcomed.</a:t>
            </a:r>
            <a:endParaRPr lang="en-US" sz="20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5.43999999999997,&quot;left&quot;:50.4,&quot;top&quot;:237.6,&quot;width&quot;:500.4}"/>
</p:tagLst>
</file>

<file path=ppt/tags/tag2.xml><?xml version="1.0" encoding="utf-8"?>
<p:tagLst xmlns:p="http://schemas.openxmlformats.org/presentationml/2006/main">
  <p:tag name="KSO_WM_DIAGRAM_VIRTUALLY_FRAME" val="{&quot;height&quot;:235.43999999999997,&quot;left&quot;:50.4,&quot;top&quot;:237.6,&quot;width&quot;:500.4}"/>
</p:tagLst>
</file>

<file path=ppt/tags/tag3.xml><?xml version="1.0" encoding="utf-8"?>
<p:tagLst xmlns:p="http://schemas.openxmlformats.org/presentationml/2006/main">
  <p:tag name="KSO_WM_DIAGRAM_VIRTUALLY_FRAME" val="{&quot;height&quot;:235.43999999999997,&quot;left&quot;:50.4,&quot;top&quot;:237.6,&quot;width&quot;:500.4}"/>
</p:tagLst>
</file>

<file path=ppt/tags/tag4.xml><?xml version="1.0" encoding="utf-8"?>
<p:tagLst xmlns:p="http://schemas.openxmlformats.org/presentationml/2006/main">
  <p:tag name="KSO_WM_DIAGRAM_VIRTUALLY_FRAME" val="{&quot;height&quot;:235.43999999999997,&quot;left&quot;:50.4,&quot;top&quot;:237.6,&quot;width&quot;:500.4}"/>
</p:tagLst>
</file>

<file path=ppt/tags/tag5.xml><?xml version="1.0" encoding="utf-8"?>
<p:tagLst xmlns:p="http://schemas.openxmlformats.org/presentationml/2006/main">
  <p:tag name="KSO_WM_DIAGRAM_VIRTUALLY_FRAME" val="{&quot;height&quot;:235.43999999999997,&quot;left&quot;:50.4,&quot;top&quot;:237.6,&quot;width&quot;:500.4}"/>
</p:tagLst>
</file>

<file path=ppt/tags/tag6.xml><?xml version="1.0" encoding="utf-8"?>
<p:tagLst xmlns:p="http://schemas.openxmlformats.org/presentationml/2006/main">
  <p:tag name="KSO_WM_DIAGRAM_VIRTUALLY_FRAME" val="{&quot;height&quot;:235.43999999999997,&quot;left&quot;:50.4,&quot;top&quot;:237.6,&quot;width&quot;:500.4}"/>
</p:tagLst>
</file>

<file path=ppt/tags/tag7.xml><?xml version="1.0" encoding="utf-8"?>
<p:tagLst xmlns:p="http://schemas.openxmlformats.org/presentationml/2006/main">
  <p:tag name="KSO_WM_DIAGRAM_VIRTUALLY_FRAME" val="{&quot;height&quot;:235.43999999999997,&quot;left&quot;:50.4,&quot;top&quot;:237.6,&quot;width&quot;:500.4}"/>
</p:tagLst>
</file>

<file path=ppt/tags/tag8.xml><?xml version="1.0" encoding="utf-8"?>
<p:tagLst xmlns:p="http://schemas.openxmlformats.org/presentationml/2006/main">
  <p:tag name="KSO_WM_DIAGRAM_VIRTUALLY_FRAME" val="{&quot;height&quot;:235.43999999999997,&quot;left&quot;:50.4,&quot;top&quot;:237.6,&quot;width&quot;:500.4}"/>
</p:tagLst>
</file>

<file path=ppt/tags/tag9.xml><?xml version="1.0" encoding="utf-8"?>
<p:tagLst xmlns:p="http://schemas.openxmlformats.org/presentationml/2006/main">
  <p:tag name="KSO_WM_DIAGRAM_VIRTUALLY_FRAME" val="{&quot;height&quot;:235.43999999999997,&quot;left&quot;:50.4,&quot;top&quot;:237.6,&quot;width&quot;:500.4}"/>
</p:tagLst>
</file>

<file path=ppt/tags/tag10.xml><?xml version="1.0" encoding="utf-8"?>
<p:tagLst xmlns:p="http://schemas.openxmlformats.org/presentationml/2006/main">
  <p:tag name="KSO_WM_DIAGRAM_VIRTUALLY_FRAME" val="{&quot;height&quot;:235.43999999999997,&quot;left&quot;:50.4,&quot;top&quot;:237.6,&quot;width&quot;:500.4}"/>
</p:tagLst>
</file>

<file path=ppt/tags/tag11.xml><?xml version="1.0" encoding="utf-8"?>
<p:tagLst xmlns:p="http://schemas.openxmlformats.org/presentationml/2006/main">
  <p:tag name="KSO_WM_DIAGRAM_VIRTUALLY_FRAME" val="{&quot;height&quot;:235.43999999999997,&quot;left&quot;:50.4,&quot;top&quot;:237.6,&quot;width&quot;:500.4}"/>
</p:tagLst>
</file>

<file path=ppt/tags/tag12.xml><?xml version="1.0" encoding="utf-8"?>
<p:tagLst xmlns:p="http://schemas.openxmlformats.org/presentationml/2006/main">
  <p:tag name="KSO_WM_DIAGRAM_VIRTUALLY_FRAME" val="{&quot;height&quot;:235.43999999999997,&quot;left&quot;:50.4,&quot;top&quot;:237.6,&quot;width&quot;:500.4}"/>
</p:tagLst>
</file>

<file path=ppt/tags/tag13.xml><?xml version="1.0" encoding="utf-8"?>
<p:tagLst xmlns:p="http://schemas.openxmlformats.org/presentationml/2006/main">
  <p:tag name="KSO_WM_DIAGRAM_VIRTUALLY_FRAME" val="{&quot;height&quot;:205.2,&quot;left&quot;:50.4,&quot;top&quot;:180,&quot;width&quot;:842.4}"/>
</p:tagLst>
</file>

<file path=ppt/tags/tag14.xml><?xml version="1.0" encoding="utf-8"?>
<p:tagLst xmlns:p="http://schemas.openxmlformats.org/presentationml/2006/main">
  <p:tag name="KSO_WM_DIAGRAM_VIRTUALLY_FRAME" val="{&quot;height&quot;:205.2,&quot;left&quot;:50.4,&quot;top&quot;:180,&quot;width&quot;:842.4}"/>
</p:tagLst>
</file>

<file path=ppt/tags/tag15.xml><?xml version="1.0" encoding="utf-8"?>
<p:tagLst xmlns:p="http://schemas.openxmlformats.org/presentationml/2006/main">
  <p:tag name="KSO_WM_DIAGRAM_VIRTUALLY_FRAME" val="{&quot;height&quot;:205.2,&quot;left&quot;:50.4,&quot;top&quot;:180,&quot;width&quot;:842.4}"/>
</p:tagLst>
</file>

<file path=ppt/tags/tag16.xml><?xml version="1.0" encoding="utf-8"?>
<p:tagLst xmlns:p="http://schemas.openxmlformats.org/presentationml/2006/main">
  <p:tag name="KSO_WM_DIAGRAM_VIRTUALLY_FRAME" val="{&quot;height&quot;:205.2,&quot;left&quot;:50.4,&quot;top&quot;:180,&quot;width&quot;:842.4}"/>
</p:tagLst>
</file>

<file path=ppt/tags/tag17.xml><?xml version="1.0" encoding="utf-8"?>
<p:tagLst xmlns:p="http://schemas.openxmlformats.org/presentationml/2006/main">
  <p:tag name="KSO_WM_DIAGRAM_VIRTUALLY_FRAME" val="{&quot;height&quot;:205.2,&quot;left&quot;:50.4,&quot;top&quot;:180,&quot;width&quot;:842.4}"/>
</p:tagLst>
</file>

<file path=ppt/tags/tag18.xml><?xml version="1.0" encoding="utf-8"?>
<p:tagLst xmlns:p="http://schemas.openxmlformats.org/presentationml/2006/main">
  <p:tag name="KSO_WM_DIAGRAM_VIRTUALLY_FRAME" val="{&quot;height&quot;:205.2,&quot;left&quot;:50.4,&quot;top&quot;:180,&quot;width&quot;:842.4}"/>
</p:tagLst>
</file>

<file path=ppt/tags/tag19.xml><?xml version="1.0" encoding="utf-8"?>
<p:tagLst xmlns:p="http://schemas.openxmlformats.org/presentationml/2006/main">
  <p:tag name="KSO_WM_DIAGRAM_VIRTUALLY_FRAME" val="{&quot;height&quot;:205.2,&quot;left&quot;:50.4,&quot;top&quot;:180,&quot;width&quot;:842.4}"/>
</p:tagLst>
</file>

<file path=ppt/tags/tag20.xml><?xml version="1.0" encoding="utf-8"?>
<p:tagLst xmlns:p="http://schemas.openxmlformats.org/presentationml/2006/main">
  <p:tag name="KSO_WM_DIAGRAM_VIRTUALLY_FRAME" val="{&quot;height&quot;:205.2,&quot;left&quot;:50.4,&quot;top&quot;:180,&quot;width&quot;:842.4}"/>
</p:tagLst>
</file>

<file path=ppt/tags/tag21.xml><?xml version="1.0" encoding="utf-8"?>
<p:tagLst xmlns:p="http://schemas.openxmlformats.org/presentationml/2006/main">
  <p:tag name="KSO_WM_DIAGRAM_VIRTUALLY_FRAME" val="{&quot;height&quot;:205.2,&quot;left&quot;:50.4,&quot;top&quot;:180,&quot;width&quot;:842.4}"/>
</p:tagLst>
</file>

<file path=ppt/tags/tag22.xml><?xml version="1.0" encoding="utf-8"?>
<p:tagLst xmlns:p="http://schemas.openxmlformats.org/presentationml/2006/main">
  <p:tag name="KSO_WM_DIAGRAM_VIRTUALLY_FRAME" val="{&quot;height&quot;:205.2,&quot;left&quot;:50.4,&quot;top&quot;:180,&quot;width&quot;:842.4}"/>
</p:tagLst>
</file>

<file path=ppt/tags/tag23.xml><?xml version="1.0" encoding="utf-8"?>
<p:tagLst xmlns:p="http://schemas.openxmlformats.org/presentationml/2006/main">
  <p:tag name="KSO_WM_DIAGRAM_VIRTUALLY_FRAME" val="{&quot;height&quot;:255.6,&quot;left&quot;:50.4,&quot;top&quot;:140.4,&quot;width&quot;:856.0799999999999}"/>
</p:tagLst>
</file>

<file path=ppt/tags/tag24.xml><?xml version="1.0" encoding="utf-8"?>
<p:tagLst xmlns:p="http://schemas.openxmlformats.org/presentationml/2006/main">
  <p:tag name="KSO_WM_DIAGRAM_VIRTUALLY_FRAME" val="{&quot;height&quot;:255.6,&quot;left&quot;:50.4,&quot;top&quot;:140.4,&quot;width&quot;:856.0799999999999}"/>
</p:tagLst>
</file>

<file path=ppt/tags/tag25.xml><?xml version="1.0" encoding="utf-8"?>
<p:tagLst xmlns:p="http://schemas.openxmlformats.org/presentationml/2006/main">
  <p:tag name="KSO_WM_DIAGRAM_VIRTUALLY_FRAME" val="{&quot;height&quot;:255.6,&quot;left&quot;:50.4,&quot;top&quot;:140.4,&quot;width&quot;:856.0799999999999}"/>
</p:tagLst>
</file>

<file path=ppt/tags/tag26.xml><?xml version="1.0" encoding="utf-8"?>
<p:tagLst xmlns:p="http://schemas.openxmlformats.org/presentationml/2006/main">
  <p:tag name="KSO_WM_DIAGRAM_VIRTUALLY_FRAME" val="{&quot;height&quot;:255.6,&quot;left&quot;:50.4,&quot;top&quot;:140.4,&quot;width&quot;:856.0799999999999}"/>
</p:tagLst>
</file>

<file path=ppt/tags/tag27.xml><?xml version="1.0" encoding="utf-8"?>
<p:tagLst xmlns:p="http://schemas.openxmlformats.org/presentationml/2006/main">
  <p:tag name="KSO_WM_DIAGRAM_VIRTUALLY_FRAME" val="{&quot;height&quot;:255.6,&quot;left&quot;:50.4,&quot;top&quot;:140.4,&quot;width&quot;:856.0799999999999}"/>
</p:tagLst>
</file>

<file path=ppt/tags/tag28.xml><?xml version="1.0" encoding="utf-8"?>
<p:tagLst xmlns:p="http://schemas.openxmlformats.org/presentationml/2006/main">
  <p:tag name="KSO_WM_DIAGRAM_VIRTUALLY_FRAME" val="{&quot;height&quot;:255.6,&quot;left&quot;:50.4,&quot;top&quot;:140.4,&quot;width&quot;:856.0799999999999}"/>
</p:tagLst>
</file>

<file path=ppt/tags/tag29.xml><?xml version="1.0" encoding="utf-8"?>
<p:tagLst xmlns:p="http://schemas.openxmlformats.org/presentationml/2006/main">
  <p:tag name="KSO_WM_DIAGRAM_VIRTUALLY_FRAME" val="{&quot;height&quot;:255.6,&quot;left&quot;:50.4,&quot;top&quot;:140.4,&quot;width&quot;:856.0799999999999}"/>
</p:tagLst>
</file>

<file path=ppt/tags/tag30.xml><?xml version="1.0" encoding="utf-8"?>
<p:tagLst xmlns:p="http://schemas.openxmlformats.org/presentationml/2006/main">
  <p:tag name="KSO_WM_DIAGRAM_VIRTUALLY_FRAME" val="{&quot;height&quot;:255.6,&quot;left&quot;:50.4,&quot;top&quot;:140.4,&quot;width&quot;:856.0799999999999}"/>
</p:tagLst>
</file>

<file path=ppt/tags/tag31.xml><?xml version="1.0" encoding="utf-8"?>
<p:tagLst xmlns:p="http://schemas.openxmlformats.org/presentationml/2006/main">
  <p:tag name="KSO_WM_DIAGRAM_VIRTUALLY_FRAME" val="{&quot;height&quot;:255.6,&quot;left&quot;:50.4,&quot;top&quot;:140.4,&quot;width&quot;:856.0799999999999}"/>
</p:tagLst>
</file>

<file path=ppt/tags/tag32.xml><?xml version="1.0" encoding="utf-8"?>
<p:tagLst xmlns:p="http://schemas.openxmlformats.org/presentationml/2006/main">
  <p:tag name="KSO_WM_DIAGRAM_VIRTUALLY_FRAME" val="{&quot;height&quot;:255.6,&quot;left&quot;:50.4,&quot;top&quot;:140.4,&quot;width&quot;:856.0799999999999}"/>
</p:tagLst>
</file>

<file path=ppt/tags/tag33.xml><?xml version="1.0" encoding="utf-8"?>
<p:tagLst xmlns:p="http://schemas.openxmlformats.org/presentationml/2006/main">
  <p:tag name="KSO_WM_DIAGRAM_VIRTUALLY_FRAME" val="{&quot;height&quot;:255.6,&quot;left&quot;:50.4,&quot;top&quot;:140.4,&quot;width&quot;:856.0799999999999}"/>
</p:tagLst>
</file>

<file path=ppt/tags/tag34.xml><?xml version="1.0" encoding="utf-8"?>
<p:tagLst xmlns:p="http://schemas.openxmlformats.org/presentationml/2006/main">
  <p:tag name="KSO_WM_DIAGRAM_VIRTUALLY_FRAME" val="{&quot;height&quot;:255.6,&quot;left&quot;:50.4,&quot;top&quot;:140.4,&quot;width&quot;:856.0799999999999}"/>
</p:tagLst>
</file>

<file path=ppt/tags/tag35.xml><?xml version="1.0" encoding="utf-8"?>
<p:tagLst xmlns:p="http://schemas.openxmlformats.org/presentationml/2006/main">
  <p:tag name="KSO_WM_DIAGRAM_VIRTUALLY_FRAME" val="{&quot;height&quot;:255.6,&quot;left&quot;:50.4,&quot;top&quot;:140.4,&quot;width&quot;:856.0799999999999}"/>
</p:tagLst>
</file>

<file path=ppt/tags/tag36.xml><?xml version="1.0" encoding="utf-8"?>
<p:tagLst xmlns:p="http://schemas.openxmlformats.org/presentationml/2006/main">
  <p:tag name="KSO_WM_DIAGRAM_VIRTUALLY_FRAME" val="{&quot;height&quot;:255.6,&quot;left&quot;:50.4,&quot;top&quot;:140.4,&quot;width&quot;:856.0799999999999}"/>
</p:tagLst>
</file>

<file path=ppt/tags/tag37.xml><?xml version="1.0" encoding="utf-8"?>
<p:tagLst xmlns:p="http://schemas.openxmlformats.org/presentationml/2006/main">
  <p:tag name="KSO_WM_DIAGRAM_VIRTUALLY_FRAME" val="{&quot;height&quot;:255.6,&quot;left&quot;:50.4,&quot;top&quot;:140.4,&quot;width&quot;:856.079999999999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7944</Words>
  <Application>WPS Presentation</Application>
  <PresentationFormat>On-screen Show (16:9)</PresentationFormat>
  <Paragraphs>331</Paragraphs>
  <Slides>19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Arial</vt:lpstr>
      <vt:lpstr>SimSun</vt:lpstr>
      <vt:lpstr>Wingdings</vt:lpstr>
      <vt:lpstr>Arial</vt:lpstr>
      <vt:lpstr>Arial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RouterGuardian</dc:title>
  <dc:creator>Khalil</dc:creator>
  <dc:subject>PptxGenJS Presentation</dc:subject>
  <cp:lastModifiedBy>PC</cp:lastModifiedBy>
  <cp:revision>3</cp:revision>
  <dcterms:created xsi:type="dcterms:W3CDTF">2026-08-30T00:39:00Z</dcterms:created>
  <dcterms:modified xsi:type="dcterms:W3CDTF">2026-08-30T01:50:59Z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D6C1D0FD21634D53AE97706D5F3DC370_12</vt:lpwstr>
  </property>
  <property fmtid="{D5CDD505-2E9C-101B-9397-08002B2CF9AE}" pid="3" name="KSOProductBuildVer">
    <vt:lpwstr>2057-12.2.0.23206</vt:lpwstr>
  </property>
</Properties>
</file>